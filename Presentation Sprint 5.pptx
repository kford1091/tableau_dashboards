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0" r:id="rId7"/>
    <p:sldId id="261" r:id="rId8"/>
    <p:sldId id="264" r:id="rId9"/>
    <p:sldId id="265" r:id="rId10"/>
    <p:sldId id="266" r:id="rId11"/>
    <p:sldId id="262"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792523-3F6C-411D-9AE2-13FEA0CA0BE8}" v="17" dt="2025-06-12T05:14:12.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p:scale>
          <a:sx n="74" d="100"/>
          <a:sy n="74" d="100"/>
        </p:scale>
        <p:origin x="1176"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W. Ford" userId="f3ae2b3690864c66" providerId="LiveId" clId="{17792523-3F6C-411D-9AE2-13FEA0CA0BE8}"/>
    <pc:docChg chg="custSel addSld delSld modSld">
      <pc:chgData name="K.W. Ford" userId="f3ae2b3690864c66" providerId="LiveId" clId="{17792523-3F6C-411D-9AE2-13FEA0CA0BE8}" dt="2025-06-12T05:15:43.680" v="363" actId="122"/>
      <pc:docMkLst>
        <pc:docMk/>
      </pc:docMkLst>
      <pc:sldChg chg="new del">
        <pc:chgData name="K.W. Ford" userId="f3ae2b3690864c66" providerId="LiveId" clId="{17792523-3F6C-411D-9AE2-13FEA0CA0BE8}" dt="2025-06-12T04:25:31.267" v="1" actId="2696"/>
        <pc:sldMkLst>
          <pc:docMk/>
          <pc:sldMk cId="1971043233" sldId="263"/>
        </pc:sldMkLst>
      </pc:sldChg>
      <pc:sldChg chg="modSp new mod">
        <pc:chgData name="K.W. Ford" userId="f3ae2b3690864c66" providerId="LiveId" clId="{17792523-3F6C-411D-9AE2-13FEA0CA0BE8}" dt="2025-06-12T04:35:34.641" v="37"/>
        <pc:sldMkLst>
          <pc:docMk/>
          <pc:sldMk cId="2838421611" sldId="263"/>
        </pc:sldMkLst>
        <pc:spChg chg="mod">
          <ac:chgData name="K.W. Ford" userId="f3ae2b3690864c66" providerId="LiveId" clId="{17792523-3F6C-411D-9AE2-13FEA0CA0BE8}" dt="2025-06-12T04:27:11.753" v="30" actId="122"/>
          <ac:spMkLst>
            <pc:docMk/>
            <pc:sldMk cId="2838421611" sldId="263"/>
            <ac:spMk id="2" creationId="{462C6C10-CF91-38E6-E690-F5195FE91190}"/>
          </ac:spMkLst>
        </pc:spChg>
        <pc:spChg chg="mod">
          <ac:chgData name="K.W. Ford" userId="f3ae2b3690864c66" providerId="LiveId" clId="{17792523-3F6C-411D-9AE2-13FEA0CA0BE8}" dt="2025-06-12T04:35:34.641" v="37"/>
          <ac:spMkLst>
            <pc:docMk/>
            <pc:sldMk cId="2838421611" sldId="263"/>
            <ac:spMk id="3" creationId="{A077CCF8-AC4F-3225-DEE4-7D9E9DE7F0C8}"/>
          </ac:spMkLst>
        </pc:spChg>
      </pc:sldChg>
      <pc:sldChg chg="modSp new mod">
        <pc:chgData name="K.W. Ford" userId="f3ae2b3690864c66" providerId="LiveId" clId="{17792523-3F6C-411D-9AE2-13FEA0CA0BE8}" dt="2025-06-12T04:45:14.452" v="166" actId="27636"/>
        <pc:sldMkLst>
          <pc:docMk/>
          <pc:sldMk cId="3467421149" sldId="264"/>
        </pc:sldMkLst>
        <pc:spChg chg="mod">
          <ac:chgData name="K.W. Ford" userId="f3ae2b3690864c66" providerId="LiveId" clId="{17792523-3F6C-411D-9AE2-13FEA0CA0BE8}" dt="2025-06-12T04:39:20.171" v="73" actId="122"/>
          <ac:spMkLst>
            <pc:docMk/>
            <pc:sldMk cId="3467421149" sldId="264"/>
            <ac:spMk id="2" creationId="{482510EB-2A00-4FEC-DAE0-4336DECDFA13}"/>
          </ac:spMkLst>
        </pc:spChg>
        <pc:spChg chg="mod">
          <ac:chgData name="K.W. Ford" userId="f3ae2b3690864c66" providerId="LiveId" clId="{17792523-3F6C-411D-9AE2-13FEA0CA0BE8}" dt="2025-06-12T04:45:14.452" v="166" actId="27636"/>
          <ac:spMkLst>
            <pc:docMk/>
            <pc:sldMk cId="3467421149" sldId="264"/>
            <ac:spMk id="3" creationId="{A532253E-E22B-E2F2-98CB-FD9581797CED}"/>
          </ac:spMkLst>
        </pc:spChg>
      </pc:sldChg>
      <pc:sldChg chg="modSp new mod">
        <pc:chgData name="K.W. Ford" userId="f3ae2b3690864c66" providerId="LiveId" clId="{17792523-3F6C-411D-9AE2-13FEA0CA0BE8}" dt="2025-06-12T04:56:03.385" v="251" actId="20577"/>
        <pc:sldMkLst>
          <pc:docMk/>
          <pc:sldMk cId="1100642189" sldId="265"/>
        </pc:sldMkLst>
        <pc:spChg chg="mod">
          <ac:chgData name="K.W. Ford" userId="f3ae2b3690864c66" providerId="LiveId" clId="{17792523-3F6C-411D-9AE2-13FEA0CA0BE8}" dt="2025-06-12T04:47:01.811" v="204" actId="122"/>
          <ac:spMkLst>
            <pc:docMk/>
            <pc:sldMk cId="1100642189" sldId="265"/>
            <ac:spMk id="2" creationId="{30F4C4FC-3A0B-74C2-A215-383C2A2578C8}"/>
          </ac:spMkLst>
        </pc:spChg>
        <pc:spChg chg="mod">
          <ac:chgData name="K.W. Ford" userId="f3ae2b3690864c66" providerId="LiveId" clId="{17792523-3F6C-411D-9AE2-13FEA0CA0BE8}" dt="2025-06-12T04:56:03.385" v="251" actId="20577"/>
          <ac:spMkLst>
            <pc:docMk/>
            <pc:sldMk cId="1100642189" sldId="265"/>
            <ac:spMk id="3" creationId="{6E27DFB0-55AB-D630-29FC-975A82027083}"/>
          </ac:spMkLst>
        </pc:spChg>
      </pc:sldChg>
      <pc:sldChg chg="modSp new mod">
        <pc:chgData name="K.W. Ford" userId="f3ae2b3690864c66" providerId="LiveId" clId="{17792523-3F6C-411D-9AE2-13FEA0CA0BE8}" dt="2025-06-12T05:05:44.108" v="301" actId="255"/>
        <pc:sldMkLst>
          <pc:docMk/>
          <pc:sldMk cId="2928179940" sldId="266"/>
        </pc:sldMkLst>
        <pc:spChg chg="mod">
          <ac:chgData name="K.W. Ford" userId="f3ae2b3690864c66" providerId="LiveId" clId="{17792523-3F6C-411D-9AE2-13FEA0CA0BE8}" dt="2025-06-12T04:58:03.745" v="281" actId="122"/>
          <ac:spMkLst>
            <pc:docMk/>
            <pc:sldMk cId="2928179940" sldId="266"/>
            <ac:spMk id="2" creationId="{0099B7AE-D6D2-8494-D185-59796CCCF3BA}"/>
          </ac:spMkLst>
        </pc:spChg>
        <pc:spChg chg="mod">
          <ac:chgData name="K.W. Ford" userId="f3ae2b3690864c66" providerId="LiveId" clId="{17792523-3F6C-411D-9AE2-13FEA0CA0BE8}" dt="2025-06-12T05:05:44.108" v="301" actId="255"/>
          <ac:spMkLst>
            <pc:docMk/>
            <pc:sldMk cId="2928179940" sldId="266"/>
            <ac:spMk id="3" creationId="{0D54E006-37CE-161F-B6B8-811CF4F8F862}"/>
          </ac:spMkLst>
        </pc:spChg>
      </pc:sldChg>
      <pc:sldChg chg="modSp new mod">
        <pc:chgData name="K.W. Ford" userId="f3ae2b3690864c66" providerId="LiveId" clId="{17792523-3F6C-411D-9AE2-13FEA0CA0BE8}" dt="2025-06-12T05:15:43.680" v="363" actId="122"/>
        <pc:sldMkLst>
          <pc:docMk/>
          <pc:sldMk cId="1633273208" sldId="267"/>
        </pc:sldMkLst>
        <pc:spChg chg="mod">
          <ac:chgData name="K.W. Ford" userId="f3ae2b3690864c66" providerId="LiveId" clId="{17792523-3F6C-411D-9AE2-13FEA0CA0BE8}" dt="2025-06-12T05:15:43.680" v="363" actId="122"/>
          <ac:spMkLst>
            <pc:docMk/>
            <pc:sldMk cId="1633273208" sldId="267"/>
            <ac:spMk id="2" creationId="{03611614-6A2E-1F20-C798-EA497984CA93}"/>
          </ac:spMkLst>
        </pc:spChg>
        <pc:spChg chg="mod">
          <ac:chgData name="K.W. Ford" userId="f3ae2b3690864c66" providerId="LiveId" clId="{17792523-3F6C-411D-9AE2-13FEA0CA0BE8}" dt="2025-06-12T05:11:42.220" v="332" actId="5793"/>
          <ac:spMkLst>
            <pc:docMk/>
            <pc:sldMk cId="1633273208" sldId="267"/>
            <ac:spMk id="3" creationId="{EFC5C149-AFFC-29BD-3A6F-C9B8E6C5E8B7}"/>
          </ac:spMkLst>
        </pc:spChg>
      </pc:sldChg>
      <pc:sldChg chg="modSp new mod">
        <pc:chgData name="K.W. Ford" userId="f3ae2b3690864c66" providerId="LiveId" clId="{17792523-3F6C-411D-9AE2-13FEA0CA0BE8}" dt="2025-06-12T05:14:24.835" v="362" actId="122"/>
        <pc:sldMkLst>
          <pc:docMk/>
          <pc:sldMk cId="86914248" sldId="268"/>
        </pc:sldMkLst>
        <pc:spChg chg="mod">
          <ac:chgData name="K.W. Ford" userId="f3ae2b3690864c66" providerId="LiveId" clId="{17792523-3F6C-411D-9AE2-13FEA0CA0BE8}" dt="2025-06-12T05:14:24.835" v="362" actId="122"/>
          <ac:spMkLst>
            <pc:docMk/>
            <pc:sldMk cId="86914248" sldId="268"/>
            <ac:spMk id="2" creationId="{86632D3F-AD44-1138-0079-284D4DC83706}"/>
          </ac:spMkLst>
        </pc:spChg>
        <pc:spChg chg="mod">
          <ac:chgData name="K.W. Ford" userId="f3ae2b3690864c66" providerId="LiveId" clId="{17792523-3F6C-411D-9AE2-13FEA0CA0BE8}" dt="2025-06-12T05:14:15.690" v="361" actId="20577"/>
          <ac:spMkLst>
            <pc:docMk/>
            <pc:sldMk cId="86914248" sldId="268"/>
            <ac:spMk id="3" creationId="{977BB364-DD45-D9BC-2FA0-962F12643A0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161A8-D7AA-08A1-F9A6-26B53A17AF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5D9AA6-92C8-652F-589F-D351A90130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ED169D-E837-24CA-5131-A8AB56EA55F8}"/>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5" name="Footer Placeholder 4">
            <a:extLst>
              <a:ext uri="{FF2B5EF4-FFF2-40B4-BE49-F238E27FC236}">
                <a16:creationId xmlns:a16="http://schemas.microsoft.com/office/drawing/2014/main" id="{9E5B0A6C-F98E-475F-A6F2-6DE7B69D78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AD7FFD-58F3-3CE6-E838-63A647C68A20}"/>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401515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0076-FA54-1042-A747-D9FA7CB592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2018F7-7F99-0521-B268-29CBBB41B0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97D164-E328-7BB9-49DE-49126D6BFB7F}"/>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5" name="Footer Placeholder 4">
            <a:extLst>
              <a:ext uri="{FF2B5EF4-FFF2-40B4-BE49-F238E27FC236}">
                <a16:creationId xmlns:a16="http://schemas.microsoft.com/office/drawing/2014/main" id="{3EEEEF03-4EC7-53CC-A554-59EDB59718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D405E3-B4B5-FCFD-1E16-14AC99ED3C25}"/>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31393853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D2239-6BDB-A522-AEF5-FF6066F02F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00B7EB-4975-C309-FD7E-B37C6CB114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AE467B-934C-E2C0-33DB-D11E6B371A15}"/>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5" name="Footer Placeholder 4">
            <a:extLst>
              <a:ext uri="{FF2B5EF4-FFF2-40B4-BE49-F238E27FC236}">
                <a16:creationId xmlns:a16="http://schemas.microsoft.com/office/drawing/2014/main" id="{D64EA976-D935-D76D-2143-D3B0273BAE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27066B-B4CA-6BE5-E79C-BA483417A537}"/>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1277586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712C2-718F-E13C-EBBE-E3282D4295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7580A5-0315-5AA8-6B01-C097F56E92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BD87C8-A179-62C0-EF5F-5292FC9328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ABA4B0-6DD4-CC79-056C-1C7939C68B62}"/>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6" name="Footer Placeholder 5">
            <a:extLst>
              <a:ext uri="{FF2B5EF4-FFF2-40B4-BE49-F238E27FC236}">
                <a16:creationId xmlns:a16="http://schemas.microsoft.com/office/drawing/2014/main" id="{D0EE485B-44E0-3BB3-E185-AECC3BE809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E22892-2F47-9880-A355-34B5699DF108}"/>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4098089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A084E-EC1C-6BD5-619A-E6E0427504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850AD6-1FFA-FFF8-FE4F-E8D82072F6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C2E7B0-AF2D-D317-A6F2-C0B522454D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0CA214-A1FC-64A8-B2F9-DB091DF219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24152C-B64F-F67C-C6DC-EF3C1005FD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4685BE-A257-E39C-330F-7CF903DA9771}"/>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8" name="Footer Placeholder 7">
            <a:extLst>
              <a:ext uri="{FF2B5EF4-FFF2-40B4-BE49-F238E27FC236}">
                <a16:creationId xmlns:a16="http://schemas.microsoft.com/office/drawing/2014/main" id="{9E17F729-01AE-92AB-3BCB-1C7D88CC132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675BE6-D0B7-D8FC-79A4-45B23B6A77A1}"/>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4202848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C3A30-BCFC-7823-E199-3E85D7A921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39148D-97B7-2B78-DBB8-8CB023645A88}"/>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4" name="Footer Placeholder 3">
            <a:extLst>
              <a:ext uri="{FF2B5EF4-FFF2-40B4-BE49-F238E27FC236}">
                <a16:creationId xmlns:a16="http://schemas.microsoft.com/office/drawing/2014/main" id="{C3476982-8751-0E15-708A-259618A06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223DA4-CDB1-DFC2-0994-200A65DBD9E6}"/>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2340658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1E4522-66F9-659E-654D-FBDA6E1E5785}"/>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3" name="Footer Placeholder 2">
            <a:extLst>
              <a:ext uri="{FF2B5EF4-FFF2-40B4-BE49-F238E27FC236}">
                <a16:creationId xmlns:a16="http://schemas.microsoft.com/office/drawing/2014/main" id="{9B083E22-EDCE-DFF6-4C1F-3AC33134B2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942699-9C72-26F7-1EEB-41D743F185C3}"/>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614118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FA44A-1BEE-5A10-5381-ED7453CAE5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07433C-5CA4-61DA-C70B-449107BB50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9B41CF-96E4-CEE4-A45C-7F17565E22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2B04F1-1B09-6AAE-750A-97373056D9C3}"/>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6" name="Footer Placeholder 5">
            <a:extLst>
              <a:ext uri="{FF2B5EF4-FFF2-40B4-BE49-F238E27FC236}">
                <a16:creationId xmlns:a16="http://schemas.microsoft.com/office/drawing/2014/main" id="{B8E26BF6-790A-E4EC-C314-509DE87B98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9E2964-48E8-843A-75B7-C56E0350A1A4}"/>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1282978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CEA5F-A606-AD19-C270-99376DD9D1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DF7454-38B9-BC19-A976-152DD80F56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5E7E61-EB48-1E8C-C5EC-5A3AB5D78F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63064E-2313-FC14-3BD7-5901FCB3B69F}"/>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6" name="Footer Placeholder 5">
            <a:extLst>
              <a:ext uri="{FF2B5EF4-FFF2-40B4-BE49-F238E27FC236}">
                <a16:creationId xmlns:a16="http://schemas.microsoft.com/office/drawing/2014/main" id="{8CA72C92-B610-356F-18A8-E5280464D7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59B6CA-4480-39A4-11E5-1730A8871114}"/>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248943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0F389-4F79-0639-718D-A4077A2EA7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426DED-6CCE-6A79-38BD-9359168CB4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6294F8-AE03-D31F-072D-04CF5FBD1BA9}"/>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5" name="Footer Placeholder 4">
            <a:extLst>
              <a:ext uri="{FF2B5EF4-FFF2-40B4-BE49-F238E27FC236}">
                <a16:creationId xmlns:a16="http://schemas.microsoft.com/office/drawing/2014/main" id="{B5CCA0CE-662E-E44B-6ABD-9AF90C1031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C4DC1E-91D9-2A6C-0264-01D9861B6D95}"/>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3131122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AD056E-F57A-0BBD-4815-49F1F7ACE8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27F515-90E0-6BF6-3EDF-DA50E0ECBA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5041D3-E020-22D1-EE23-F0AE56CD1241}"/>
              </a:ext>
            </a:extLst>
          </p:cNvPr>
          <p:cNvSpPr>
            <a:spLocks noGrp="1"/>
          </p:cNvSpPr>
          <p:nvPr>
            <p:ph type="dt" sz="half" idx="10"/>
          </p:nvPr>
        </p:nvSpPr>
        <p:spPr/>
        <p:txBody>
          <a:bodyPr/>
          <a:lstStyle/>
          <a:p>
            <a:fld id="{6E6082AD-A673-46B7-8115-B1A7CBEEF106}" type="datetimeFigureOut">
              <a:rPr lang="en-US" smtClean="0"/>
              <a:t>6/12/2025</a:t>
            </a:fld>
            <a:endParaRPr lang="en-US"/>
          </a:p>
        </p:txBody>
      </p:sp>
      <p:sp>
        <p:nvSpPr>
          <p:cNvPr id="5" name="Footer Placeholder 4">
            <a:extLst>
              <a:ext uri="{FF2B5EF4-FFF2-40B4-BE49-F238E27FC236}">
                <a16:creationId xmlns:a16="http://schemas.microsoft.com/office/drawing/2014/main" id="{895D81B7-3C79-DA19-65B8-12605DB22C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D036F1-F3E4-2A96-48F7-0D8D217F0165}"/>
              </a:ext>
            </a:extLst>
          </p:cNvPr>
          <p:cNvSpPr>
            <a:spLocks noGrp="1"/>
          </p:cNvSpPr>
          <p:nvPr>
            <p:ph type="sldNum" sz="quarter" idx="12"/>
          </p:nvPr>
        </p:nvSpPr>
        <p:spPr/>
        <p:txBody>
          <a:bodyPr/>
          <a:lstStyle/>
          <a:p>
            <a:fld id="{16425EB5-0970-4025-8A02-DB6DD0624FCA}" type="slidenum">
              <a:rPr lang="en-US" smtClean="0"/>
              <a:t>‹#›</a:t>
            </a:fld>
            <a:endParaRPr lang="en-US"/>
          </a:p>
        </p:txBody>
      </p:sp>
    </p:spTree>
    <p:extLst>
      <p:ext uri="{BB962C8B-B14F-4D97-AF65-F5344CB8AC3E}">
        <p14:creationId xmlns:p14="http://schemas.microsoft.com/office/powerpoint/2010/main" val="2887251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9AC706-8AC5-489B-1EFD-24D37C2D0C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D70AC6C-9DC4-25FC-7FEF-80A83E6764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D37059-4515-2E9D-93C5-C86EAAE2BF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6082AD-A673-46B7-8115-B1A7CBEEF106}" type="datetimeFigureOut">
              <a:rPr lang="en-US" smtClean="0"/>
              <a:t>6/12/2025</a:t>
            </a:fld>
            <a:endParaRPr lang="en-US"/>
          </a:p>
        </p:txBody>
      </p:sp>
      <p:sp>
        <p:nvSpPr>
          <p:cNvPr id="5" name="Footer Placeholder 4">
            <a:extLst>
              <a:ext uri="{FF2B5EF4-FFF2-40B4-BE49-F238E27FC236}">
                <a16:creationId xmlns:a16="http://schemas.microsoft.com/office/drawing/2014/main" id="{4AB2F157-AD7B-789B-1860-94E2AB12E8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0FD54B-C47A-479F-3454-0C5A570067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425EB5-0970-4025-8A02-DB6DD0624FCA}" type="slidenum">
              <a:rPr lang="en-US" smtClean="0"/>
              <a:t>‹#›</a:t>
            </a:fld>
            <a:endParaRPr lang="en-US"/>
          </a:p>
        </p:txBody>
      </p:sp>
    </p:spTree>
    <p:extLst>
      <p:ext uri="{BB962C8B-B14F-4D97-AF65-F5344CB8AC3E}">
        <p14:creationId xmlns:p14="http://schemas.microsoft.com/office/powerpoint/2010/main" val="2314721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A464D-FB9E-AF67-A06A-DF34EA11430E}"/>
              </a:ext>
            </a:extLst>
          </p:cNvPr>
          <p:cNvSpPr>
            <a:spLocks noGrp="1"/>
          </p:cNvSpPr>
          <p:nvPr>
            <p:ph type="ctrTitle"/>
          </p:nvPr>
        </p:nvSpPr>
        <p:spPr/>
        <p:txBody>
          <a:bodyPr/>
          <a:lstStyle/>
          <a:p>
            <a:r>
              <a:rPr lang="en-US" dirty="0"/>
              <a:t>Story Telling with Data</a:t>
            </a:r>
          </a:p>
        </p:txBody>
      </p:sp>
      <p:sp>
        <p:nvSpPr>
          <p:cNvPr id="3" name="Subtitle 2">
            <a:extLst>
              <a:ext uri="{FF2B5EF4-FFF2-40B4-BE49-F238E27FC236}">
                <a16:creationId xmlns:a16="http://schemas.microsoft.com/office/drawing/2014/main" id="{B7540023-0653-9FA2-8C54-6FF4B887C588}"/>
              </a:ext>
            </a:extLst>
          </p:cNvPr>
          <p:cNvSpPr>
            <a:spLocks noGrp="1"/>
          </p:cNvSpPr>
          <p:nvPr>
            <p:ph type="subTitle" idx="1"/>
          </p:nvPr>
        </p:nvSpPr>
        <p:spPr/>
        <p:txBody>
          <a:bodyPr/>
          <a:lstStyle/>
          <a:p>
            <a:r>
              <a:rPr lang="en-US" dirty="0"/>
              <a:t>Sprint 5 Project</a:t>
            </a:r>
          </a:p>
        </p:txBody>
      </p:sp>
    </p:spTree>
    <p:extLst>
      <p:ext uri="{BB962C8B-B14F-4D97-AF65-F5344CB8AC3E}">
        <p14:creationId xmlns:p14="http://schemas.microsoft.com/office/powerpoint/2010/main" val="1826670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64016-4E88-1B42-D920-DB44652502B3}"/>
              </a:ext>
            </a:extLst>
          </p:cNvPr>
          <p:cNvSpPr>
            <a:spLocks noGrp="1"/>
          </p:cNvSpPr>
          <p:nvPr>
            <p:ph type="title"/>
          </p:nvPr>
        </p:nvSpPr>
        <p:spPr/>
        <p:txBody>
          <a:bodyPr/>
          <a:lstStyle/>
          <a:p>
            <a:r>
              <a:rPr lang="en-US" dirty="0"/>
              <a:t>Dashboard Overview</a:t>
            </a:r>
          </a:p>
        </p:txBody>
      </p:sp>
      <p:pic>
        <p:nvPicPr>
          <p:cNvPr id="5" name="Content Placeholder 4" descr="A screenshot of a computer&#10;&#10;AI-generated content may be incorrect.">
            <a:extLst>
              <a:ext uri="{FF2B5EF4-FFF2-40B4-BE49-F238E27FC236}">
                <a16:creationId xmlns:a16="http://schemas.microsoft.com/office/drawing/2014/main" id="{06C56DA7-6B85-F8EF-1A9E-5F177D68EC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5161" y="1340198"/>
            <a:ext cx="9160315" cy="5421210"/>
          </a:xfrm>
        </p:spPr>
      </p:pic>
    </p:spTree>
    <p:extLst>
      <p:ext uri="{BB962C8B-B14F-4D97-AF65-F5344CB8AC3E}">
        <p14:creationId xmlns:p14="http://schemas.microsoft.com/office/powerpoint/2010/main" val="2387470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9C93B-6174-579D-9209-3C51E8808CDE}"/>
              </a:ext>
            </a:extLst>
          </p:cNvPr>
          <p:cNvSpPr>
            <a:spLocks noGrp="1"/>
          </p:cNvSpPr>
          <p:nvPr>
            <p:ph type="title"/>
          </p:nvPr>
        </p:nvSpPr>
        <p:spPr/>
        <p:txBody>
          <a:bodyPr/>
          <a:lstStyle/>
          <a:p>
            <a:r>
              <a:rPr lang="en-US" dirty="0"/>
              <a:t>Sales vs. Returns</a:t>
            </a:r>
          </a:p>
        </p:txBody>
      </p:sp>
      <p:pic>
        <p:nvPicPr>
          <p:cNvPr id="5" name="Content Placeholder 4" descr="A screenshot of a computer&#10;&#10;AI-generated content may be incorrect.">
            <a:extLst>
              <a:ext uri="{FF2B5EF4-FFF2-40B4-BE49-F238E27FC236}">
                <a16:creationId xmlns:a16="http://schemas.microsoft.com/office/drawing/2014/main" id="{4CC7A91E-52DE-0C96-78FC-CBCAC17DD5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1723" y="1494318"/>
            <a:ext cx="10148553" cy="4998557"/>
          </a:xfrm>
        </p:spPr>
      </p:pic>
    </p:spTree>
    <p:extLst>
      <p:ext uri="{BB962C8B-B14F-4D97-AF65-F5344CB8AC3E}">
        <p14:creationId xmlns:p14="http://schemas.microsoft.com/office/powerpoint/2010/main" val="186731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18297-13A1-5136-C388-92C4C0947841}"/>
              </a:ext>
            </a:extLst>
          </p:cNvPr>
          <p:cNvSpPr>
            <a:spLocks noGrp="1"/>
          </p:cNvSpPr>
          <p:nvPr>
            <p:ph type="title"/>
          </p:nvPr>
        </p:nvSpPr>
        <p:spPr/>
        <p:txBody>
          <a:bodyPr/>
          <a:lstStyle/>
          <a:p>
            <a:r>
              <a:rPr lang="en-US" dirty="0"/>
              <a:t>Return Rate by Product</a:t>
            </a:r>
          </a:p>
        </p:txBody>
      </p:sp>
      <p:pic>
        <p:nvPicPr>
          <p:cNvPr id="5" name="Content Placeholder 4" descr="A screenshot of a computer&#10;&#10;AI-generated content may be incorrect.">
            <a:extLst>
              <a:ext uri="{FF2B5EF4-FFF2-40B4-BE49-F238E27FC236}">
                <a16:creationId xmlns:a16="http://schemas.microsoft.com/office/drawing/2014/main" id="{E44EDD54-5BD8-7FFC-9815-30B50492AA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7481" y="1387744"/>
            <a:ext cx="11377648" cy="5373664"/>
          </a:xfrm>
        </p:spPr>
      </p:pic>
    </p:spTree>
    <p:extLst>
      <p:ext uri="{BB962C8B-B14F-4D97-AF65-F5344CB8AC3E}">
        <p14:creationId xmlns:p14="http://schemas.microsoft.com/office/powerpoint/2010/main" val="2834685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C6C10-CF91-38E6-E690-F5195FE91190}"/>
              </a:ext>
            </a:extLst>
          </p:cNvPr>
          <p:cNvSpPr>
            <a:spLocks noGrp="1"/>
          </p:cNvSpPr>
          <p:nvPr>
            <p:ph type="title"/>
          </p:nvPr>
        </p:nvSpPr>
        <p:spPr/>
        <p:txBody>
          <a:bodyPr/>
          <a:lstStyle/>
          <a:p>
            <a:pPr algn="ctr"/>
            <a:r>
              <a:rPr lang="en-US" dirty="0"/>
              <a:t>Best Way to Measure</a:t>
            </a:r>
          </a:p>
        </p:txBody>
      </p:sp>
      <p:sp>
        <p:nvSpPr>
          <p:cNvPr id="3" name="Content Placeholder 2">
            <a:extLst>
              <a:ext uri="{FF2B5EF4-FFF2-40B4-BE49-F238E27FC236}">
                <a16:creationId xmlns:a16="http://schemas.microsoft.com/office/drawing/2014/main" id="{A077CCF8-AC4F-3225-DEE4-7D9E9DE7F0C8}"/>
              </a:ext>
            </a:extLst>
          </p:cNvPr>
          <p:cNvSpPr>
            <a:spLocks noGrp="1"/>
          </p:cNvSpPr>
          <p:nvPr>
            <p:ph idx="1"/>
          </p:nvPr>
        </p:nvSpPr>
        <p:spPr/>
        <p:txBody>
          <a:bodyPr/>
          <a:lstStyle/>
          <a:p>
            <a:r>
              <a:rPr lang="en-US" dirty="0"/>
              <a:t>There are 3 different ways of measuring returns: return rate, total cost of returns, and total number of returns.</a:t>
            </a:r>
          </a:p>
          <a:p>
            <a:endParaRPr lang="en-US" dirty="0"/>
          </a:p>
          <a:p>
            <a:r>
              <a:rPr lang="en-US" dirty="0"/>
              <a:t>Return rate was the best measurement in this case because it measured behavioral insights.</a:t>
            </a:r>
          </a:p>
          <a:p>
            <a:endParaRPr lang="en-US" dirty="0"/>
          </a:p>
          <a:p>
            <a:r>
              <a:rPr lang="en-US" dirty="0"/>
              <a:t>Total cost of return is better when measuring financial impacts and total number of returns is best utilized when measuring logistics and inventory returns.</a:t>
            </a:r>
          </a:p>
        </p:txBody>
      </p:sp>
    </p:spTree>
    <p:extLst>
      <p:ext uri="{BB962C8B-B14F-4D97-AF65-F5344CB8AC3E}">
        <p14:creationId xmlns:p14="http://schemas.microsoft.com/office/powerpoint/2010/main" val="2838421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CE752-E5B2-6380-9F38-00320A266A22}"/>
              </a:ext>
            </a:extLst>
          </p:cNvPr>
          <p:cNvSpPr>
            <a:spLocks noGrp="1"/>
          </p:cNvSpPr>
          <p:nvPr>
            <p:ph type="title"/>
          </p:nvPr>
        </p:nvSpPr>
        <p:spPr/>
        <p:txBody>
          <a:bodyPr/>
          <a:lstStyle/>
          <a:p>
            <a:r>
              <a:rPr lang="en-US" dirty="0"/>
              <a:t>Return Rate by State</a:t>
            </a:r>
          </a:p>
        </p:txBody>
      </p:sp>
      <p:pic>
        <p:nvPicPr>
          <p:cNvPr id="5" name="Content Placeholder 4" descr="A map of the united states&#10;&#10;AI-generated content may be incorrect.">
            <a:extLst>
              <a:ext uri="{FF2B5EF4-FFF2-40B4-BE49-F238E27FC236}">
                <a16:creationId xmlns:a16="http://schemas.microsoft.com/office/drawing/2014/main" id="{E463397C-597B-E12B-D3D4-509B746ADE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0256" y="1253330"/>
            <a:ext cx="10515600" cy="5556373"/>
          </a:xfrm>
        </p:spPr>
      </p:pic>
    </p:spTree>
    <p:extLst>
      <p:ext uri="{BB962C8B-B14F-4D97-AF65-F5344CB8AC3E}">
        <p14:creationId xmlns:p14="http://schemas.microsoft.com/office/powerpoint/2010/main" val="4140001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2596-5BCE-B584-24B6-BCBC3E8B9AD6}"/>
              </a:ext>
            </a:extLst>
          </p:cNvPr>
          <p:cNvSpPr>
            <a:spLocks noGrp="1"/>
          </p:cNvSpPr>
          <p:nvPr>
            <p:ph type="title"/>
          </p:nvPr>
        </p:nvSpPr>
        <p:spPr/>
        <p:txBody>
          <a:bodyPr/>
          <a:lstStyle/>
          <a:p>
            <a:r>
              <a:rPr lang="en-US" dirty="0"/>
              <a:t>Return Rate by Month</a:t>
            </a:r>
          </a:p>
        </p:txBody>
      </p:sp>
      <p:pic>
        <p:nvPicPr>
          <p:cNvPr id="5" name="Content Placeholder 4" descr="A graph on a white background&#10;&#10;AI-generated content may be incorrect.">
            <a:extLst>
              <a:ext uri="{FF2B5EF4-FFF2-40B4-BE49-F238E27FC236}">
                <a16:creationId xmlns:a16="http://schemas.microsoft.com/office/drawing/2014/main" id="{EE352BA1-556F-8C5B-9E14-EA63A6A588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0256" y="1253330"/>
            <a:ext cx="10972701" cy="5353531"/>
          </a:xfrm>
        </p:spPr>
      </p:pic>
    </p:spTree>
    <p:extLst>
      <p:ext uri="{BB962C8B-B14F-4D97-AF65-F5344CB8AC3E}">
        <p14:creationId xmlns:p14="http://schemas.microsoft.com/office/powerpoint/2010/main" val="483835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510EB-2A00-4FEC-DAE0-4336DECDFA13}"/>
              </a:ext>
            </a:extLst>
          </p:cNvPr>
          <p:cNvSpPr>
            <a:spLocks noGrp="1"/>
          </p:cNvSpPr>
          <p:nvPr>
            <p:ph type="title"/>
          </p:nvPr>
        </p:nvSpPr>
        <p:spPr/>
        <p:txBody>
          <a:bodyPr/>
          <a:lstStyle/>
          <a:p>
            <a:pPr algn="ctr"/>
            <a:r>
              <a:rPr lang="en-US" dirty="0"/>
              <a:t>Summary of Key Problem Areas</a:t>
            </a:r>
          </a:p>
        </p:txBody>
      </p:sp>
      <p:sp>
        <p:nvSpPr>
          <p:cNvPr id="3" name="Content Placeholder 2">
            <a:extLst>
              <a:ext uri="{FF2B5EF4-FFF2-40B4-BE49-F238E27FC236}">
                <a16:creationId xmlns:a16="http://schemas.microsoft.com/office/drawing/2014/main" id="{A532253E-E22B-E2F2-98CB-FD9581797CED}"/>
              </a:ext>
            </a:extLst>
          </p:cNvPr>
          <p:cNvSpPr>
            <a:spLocks noGrp="1"/>
          </p:cNvSpPr>
          <p:nvPr>
            <p:ph idx="1"/>
          </p:nvPr>
        </p:nvSpPr>
        <p:spPr>
          <a:xfrm>
            <a:off x="838200" y="1825625"/>
            <a:ext cx="10515600" cy="3519107"/>
          </a:xfrm>
        </p:spPr>
        <p:txBody>
          <a:bodyPr>
            <a:normAutofit fontScale="92500" lnSpcReduction="20000"/>
          </a:bodyPr>
          <a:lstStyle/>
          <a:p>
            <a:r>
              <a:rPr lang="en-US" sz="3600" dirty="0"/>
              <a:t>The root causes identified are: </a:t>
            </a:r>
          </a:p>
          <a:p>
            <a:endParaRPr lang="en-US" sz="3600" dirty="0"/>
          </a:p>
          <a:p>
            <a:pPr marL="0" indent="0">
              <a:buNone/>
            </a:pPr>
            <a:r>
              <a:rPr lang="en-US" dirty="0"/>
              <a:t>                 </a:t>
            </a:r>
            <a:r>
              <a:rPr lang="en-US" sz="2800" dirty="0"/>
              <a:t>product quality issues </a:t>
            </a:r>
          </a:p>
          <a:p>
            <a:pPr marL="0" indent="0">
              <a:buNone/>
            </a:pPr>
            <a:r>
              <a:rPr lang="en-US" dirty="0"/>
              <a:t>	    size/specification mismatch </a:t>
            </a:r>
          </a:p>
          <a:p>
            <a:pPr marL="0" indent="0">
              <a:buNone/>
            </a:pPr>
            <a:r>
              <a:rPr lang="en-US" dirty="0"/>
              <a:t>	    incorrect orders</a:t>
            </a:r>
          </a:p>
          <a:p>
            <a:pPr marL="0" indent="0">
              <a:buNone/>
            </a:pPr>
            <a:r>
              <a:rPr lang="en-US" dirty="0"/>
              <a:t>	    customer expectations</a:t>
            </a:r>
          </a:p>
          <a:p>
            <a:pPr marL="0" indent="0">
              <a:buNone/>
            </a:pPr>
            <a:r>
              <a:rPr lang="en-US" dirty="0"/>
              <a:t>	    seasonal factors</a:t>
            </a:r>
          </a:p>
          <a:p>
            <a:pPr marL="0" indent="0">
              <a:buNone/>
            </a:pPr>
            <a:r>
              <a:rPr lang="en-US" dirty="0"/>
              <a:t>	    geographic trends</a:t>
            </a:r>
          </a:p>
          <a:p>
            <a:endParaRPr lang="en-US" dirty="0"/>
          </a:p>
        </p:txBody>
      </p:sp>
    </p:spTree>
    <p:extLst>
      <p:ext uri="{BB962C8B-B14F-4D97-AF65-F5344CB8AC3E}">
        <p14:creationId xmlns:p14="http://schemas.microsoft.com/office/powerpoint/2010/main" val="3467421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4C4FC-3A0B-74C2-A215-383C2A2578C8}"/>
              </a:ext>
            </a:extLst>
          </p:cNvPr>
          <p:cNvSpPr>
            <a:spLocks noGrp="1"/>
          </p:cNvSpPr>
          <p:nvPr>
            <p:ph type="title"/>
          </p:nvPr>
        </p:nvSpPr>
        <p:spPr/>
        <p:txBody>
          <a:bodyPr/>
          <a:lstStyle/>
          <a:p>
            <a:pPr algn="ctr"/>
            <a:r>
              <a:rPr lang="en-US" dirty="0"/>
              <a:t>Summary of Key Problem Areas</a:t>
            </a:r>
          </a:p>
        </p:txBody>
      </p:sp>
      <p:sp>
        <p:nvSpPr>
          <p:cNvPr id="3" name="Content Placeholder 2">
            <a:extLst>
              <a:ext uri="{FF2B5EF4-FFF2-40B4-BE49-F238E27FC236}">
                <a16:creationId xmlns:a16="http://schemas.microsoft.com/office/drawing/2014/main" id="{6E27DFB0-55AB-D630-29FC-975A82027083}"/>
              </a:ext>
            </a:extLst>
          </p:cNvPr>
          <p:cNvSpPr>
            <a:spLocks noGrp="1"/>
          </p:cNvSpPr>
          <p:nvPr>
            <p:ph idx="1"/>
          </p:nvPr>
        </p:nvSpPr>
        <p:spPr/>
        <p:txBody>
          <a:bodyPr>
            <a:noAutofit/>
          </a:bodyPr>
          <a:lstStyle/>
          <a:p>
            <a:pPr marL="457200" indent="-457200">
              <a:buFont typeface="+mj-lt"/>
              <a:buAutoNum type="arabicPeriod"/>
            </a:pPr>
            <a:r>
              <a:rPr lang="en-US" sz="2000" dirty="0"/>
              <a:t>Return Rate by Product bar chart displays the return rate by product category and identifies which categories have the highest proportion of returned products.</a:t>
            </a:r>
          </a:p>
          <a:p>
            <a:pPr marL="457200" indent="-457200">
              <a:buFont typeface="+mj-lt"/>
              <a:buAutoNum type="arabicPeriod"/>
            </a:pPr>
            <a:endParaRPr lang="en-US" sz="2000" dirty="0"/>
          </a:p>
          <a:p>
            <a:pPr marL="457200" indent="-457200">
              <a:buFont typeface="+mj-lt"/>
              <a:buAutoNum type="arabicPeriod"/>
            </a:pPr>
            <a:r>
              <a:rPr lang="en-US" sz="2000" dirty="0"/>
              <a:t>Return Rate by State map shows return rates by state and reveals that Utah at 57%, California and Oregon both at 45% show the three highest return rates.</a:t>
            </a:r>
          </a:p>
          <a:p>
            <a:pPr marL="457200" indent="-457200">
              <a:buFont typeface="+mj-lt"/>
              <a:buAutoNum type="arabicPeriod"/>
            </a:pPr>
            <a:endParaRPr lang="en-US" sz="2000" dirty="0"/>
          </a:p>
          <a:p>
            <a:pPr marL="457200" indent="-457200">
              <a:buFont typeface="+mj-lt"/>
              <a:buAutoNum type="arabicPeriod"/>
            </a:pPr>
            <a:r>
              <a:rPr lang="en-US" sz="2000" dirty="0"/>
              <a:t>Return Rate by Month line chart shows seasonal analysis revealing August is the highest rate of returns with 39% while November is the lowest with 17%.</a:t>
            </a:r>
          </a:p>
          <a:p>
            <a:pPr marL="514350" indent="-514350">
              <a:buFont typeface="+mj-lt"/>
              <a:buAutoNum type="arabicPeriod"/>
            </a:pPr>
            <a:endParaRPr lang="en-US" sz="2000" dirty="0"/>
          </a:p>
          <a:p>
            <a:pPr marL="457200" indent="-457200">
              <a:buFont typeface="+mj-lt"/>
              <a:buAutoNum type="arabicPeriod"/>
            </a:pPr>
            <a:r>
              <a:rPr lang="en-US" sz="2000" dirty="0"/>
              <a:t>Return Rate Category/Sales Composite chart shows analysis of product categories and sales reveals technology leads in both sales and return rates, showing potential quality issues despite strong market demand.  Furniture and office have similar return rates, but higher sales volume suggests different underlying factors driving returns.</a:t>
            </a:r>
          </a:p>
        </p:txBody>
      </p:sp>
    </p:spTree>
    <p:extLst>
      <p:ext uri="{BB962C8B-B14F-4D97-AF65-F5344CB8AC3E}">
        <p14:creationId xmlns:p14="http://schemas.microsoft.com/office/powerpoint/2010/main" val="1100642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9B7AE-D6D2-8494-D185-59796CCCF3BA}"/>
              </a:ext>
            </a:extLst>
          </p:cNvPr>
          <p:cNvSpPr>
            <a:spLocks noGrp="1"/>
          </p:cNvSpPr>
          <p:nvPr>
            <p:ph type="title"/>
          </p:nvPr>
        </p:nvSpPr>
        <p:spPr/>
        <p:txBody>
          <a:bodyPr/>
          <a:lstStyle/>
          <a:p>
            <a:pPr algn="ctr"/>
            <a:r>
              <a:rPr lang="en-US" dirty="0"/>
              <a:t>Summary of Key Problem Areas</a:t>
            </a:r>
          </a:p>
        </p:txBody>
      </p:sp>
      <p:sp>
        <p:nvSpPr>
          <p:cNvPr id="3" name="Content Placeholder 2">
            <a:extLst>
              <a:ext uri="{FF2B5EF4-FFF2-40B4-BE49-F238E27FC236}">
                <a16:creationId xmlns:a16="http://schemas.microsoft.com/office/drawing/2014/main" id="{0D54E006-37CE-161F-B6B8-811CF4F8F862}"/>
              </a:ext>
            </a:extLst>
          </p:cNvPr>
          <p:cNvSpPr>
            <a:spLocks noGrp="1"/>
          </p:cNvSpPr>
          <p:nvPr>
            <p:ph idx="1"/>
          </p:nvPr>
        </p:nvSpPr>
        <p:spPr/>
        <p:txBody>
          <a:bodyPr/>
          <a:lstStyle/>
          <a:p>
            <a:endParaRPr lang="en-US" dirty="0"/>
          </a:p>
          <a:p>
            <a:r>
              <a:rPr lang="en-US" dirty="0"/>
              <a:t>The utilization of filters to identify root causes should start broad, then narrow.</a:t>
            </a:r>
          </a:p>
          <a:p>
            <a:endParaRPr lang="en-US" dirty="0"/>
          </a:p>
          <a:p>
            <a:r>
              <a:rPr lang="en-US" dirty="0"/>
              <a:t>Second, the filters should be in layer by combining them to drill deeper. </a:t>
            </a:r>
          </a:p>
          <a:p>
            <a:endParaRPr lang="en-US" dirty="0"/>
          </a:p>
          <a:p>
            <a:r>
              <a:rPr lang="en-US" dirty="0"/>
              <a:t>Finally, the utilization of filters is to prove or disprove your theories.</a:t>
            </a:r>
          </a:p>
        </p:txBody>
      </p:sp>
    </p:spTree>
    <p:extLst>
      <p:ext uri="{BB962C8B-B14F-4D97-AF65-F5344CB8AC3E}">
        <p14:creationId xmlns:p14="http://schemas.microsoft.com/office/powerpoint/2010/main" val="2928179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C046F-58D4-5E61-08EB-1FA9495E441B}"/>
              </a:ext>
            </a:extLst>
          </p:cNvPr>
          <p:cNvSpPr>
            <a:spLocks noGrp="1"/>
          </p:cNvSpPr>
          <p:nvPr>
            <p:ph type="title"/>
          </p:nvPr>
        </p:nvSpPr>
        <p:spPr/>
        <p:txBody>
          <a:bodyPr/>
          <a:lstStyle/>
          <a:p>
            <a:r>
              <a:rPr lang="en-US" dirty="0"/>
              <a:t>Return Rate Category/Sales Composite</a:t>
            </a:r>
          </a:p>
        </p:txBody>
      </p:sp>
      <p:pic>
        <p:nvPicPr>
          <p:cNvPr id="5" name="Content Placeholder 4" descr="A screenshot of a computer&#10;&#10;AI-generated content may be incorrect.">
            <a:extLst>
              <a:ext uri="{FF2B5EF4-FFF2-40B4-BE49-F238E27FC236}">
                <a16:creationId xmlns:a16="http://schemas.microsoft.com/office/drawing/2014/main" id="{FB3191CE-4E0F-41FE-1426-66575C3AE9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3136" y="1343483"/>
            <a:ext cx="11075732" cy="5149392"/>
          </a:xfrm>
        </p:spPr>
      </p:pic>
    </p:spTree>
    <p:extLst>
      <p:ext uri="{BB962C8B-B14F-4D97-AF65-F5344CB8AC3E}">
        <p14:creationId xmlns:p14="http://schemas.microsoft.com/office/powerpoint/2010/main" val="280937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11614-6A2E-1F20-C798-EA497984CA93}"/>
              </a:ext>
            </a:extLst>
          </p:cNvPr>
          <p:cNvSpPr>
            <a:spLocks noGrp="1"/>
          </p:cNvSpPr>
          <p:nvPr>
            <p:ph type="title"/>
          </p:nvPr>
        </p:nvSpPr>
        <p:spPr/>
        <p:txBody>
          <a:bodyPr/>
          <a:lstStyle/>
          <a:p>
            <a:pPr algn="ctr"/>
            <a:r>
              <a:rPr lang="en-US" dirty="0"/>
              <a:t>Recommendations</a:t>
            </a:r>
          </a:p>
        </p:txBody>
      </p:sp>
      <p:sp>
        <p:nvSpPr>
          <p:cNvPr id="3" name="Content Placeholder 2">
            <a:extLst>
              <a:ext uri="{FF2B5EF4-FFF2-40B4-BE49-F238E27FC236}">
                <a16:creationId xmlns:a16="http://schemas.microsoft.com/office/drawing/2014/main" id="{EFC5C149-AFFC-29BD-3A6F-C9B8E6C5E8B7}"/>
              </a:ext>
            </a:extLst>
          </p:cNvPr>
          <p:cNvSpPr>
            <a:spLocks noGrp="1"/>
          </p:cNvSpPr>
          <p:nvPr>
            <p:ph idx="1"/>
          </p:nvPr>
        </p:nvSpPr>
        <p:spPr/>
        <p:txBody>
          <a:bodyPr/>
          <a:lstStyle/>
          <a:p>
            <a:r>
              <a:rPr lang="en-US" dirty="0"/>
              <a:t>After identifying root causes with the dashboard these actions should be taken to reduce the high rate of returns.</a:t>
            </a:r>
          </a:p>
          <a:p>
            <a:pPr marL="0" indent="0">
              <a:buNone/>
            </a:pPr>
            <a:endParaRPr lang="en-US" dirty="0"/>
          </a:p>
          <a:p>
            <a:pPr marL="0" indent="0">
              <a:buNone/>
            </a:pPr>
            <a:r>
              <a:rPr lang="en-US" dirty="0"/>
              <a:t>	1) Product/Quality Improvements</a:t>
            </a:r>
          </a:p>
          <a:p>
            <a:pPr marL="0" indent="0">
              <a:buNone/>
            </a:pPr>
            <a:r>
              <a:rPr lang="en-US" dirty="0"/>
              <a:t>	2) Customer Experience Enhancements</a:t>
            </a:r>
          </a:p>
          <a:p>
            <a:pPr marL="0" indent="0">
              <a:buNone/>
            </a:pPr>
            <a:r>
              <a:rPr lang="en-US" dirty="0"/>
              <a:t>	3) Process Changes</a:t>
            </a:r>
          </a:p>
          <a:p>
            <a:pPr marL="0" indent="0">
              <a:buNone/>
            </a:pPr>
            <a:r>
              <a:rPr lang="en-US" dirty="0"/>
              <a:t>	4) Targeted Interventions</a:t>
            </a:r>
          </a:p>
          <a:p>
            <a:endParaRPr lang="en-US" dirty="0"/>
          </a:p>
        </p:txBody>
      </p:sp>
    </p:spTree>
    <p:extLst>
      <p:ext uri="{BB962C8B-B14F-4D97-AF65-F5344CB8AC3E}">
        <p14:creationId xmlns:p14="http://schemas.microsoft.com/office/powerpoint/2010/main" val="1633273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32D3F-AD44-1138-0079-284D4DC83706}"/>
              </a:ext>
            </a:extLst>
          </p:cNvPr>
          <p:cNvSpPr>
            <a:spLocks noGrp="1"/>
          </p:cNvSpPr>
          <p:nvPr>
            <p:ph type="title"/>
          </p:nvPr>
        </p:nvSpPr>
        <p:spPr/>
        <p:txBody>
          <a:bodyPr/>
          <a:lstStyle/>
          <a:p>
            <a:pPr algn="ctr"/>
            <a:r>
              <a:rPr lang="en-US" dirty="0"/>
              <a:t>Recommendations</a:t>
            </a:r>
          </a:p>
        </p:txBody>
      </p:sp>
      <p:sp>
        <p:nvSpPr>
          <p:cNvPr id="3" name="Content Placeholder 2">
            <a:extLst>
              <a:ext uri="{FF2B5EF4-FFF2-40B4-BE49-F238E27FC236}">
                <a16:creationId xmlns:a16="http://schemas.microsoft.com/office/drawing/2014/main" id="{977BB364-DD45-D9BC-2FA0-962F12643A0A}"/>
              </a:ext>
            </a:extLst>
          </p:cNvPr>
          <p:cNvSpPr>
            <a:spLocks noGrp="1"/>
          </p:cNvSpPr>
          <p:nvPr>
            <p:ph idx="1"/>
          </p:nvPr>
        </p:nvSpPr>
        <p:spPr/>
        <p:txBody>
          <a:bodyPr/>
          <a:lstStyle/>
          <a:p>
            <a:r>
              <a:rPr lang="en-US" dirty="0"/>
              <a:t>Address the root causes of the high rate of returns is to address product defects by working with suppliers to improve quality.</a:t>
            </a:r>
          </a:p>
          <a:p>
            <a:endParaRPr lang="en-US" dirty="0"/>
          </a:p>
          <a:p>
            <a:r>
              <a:rPr lang="en-US" dirty="0"/>
              <a:t>Addressing size/specification by enhancing product descriptions and images by updating product listings.</a:t>
            </a:r>
          </a:p>
          <a:p>
            <a:endParaRPr lang="en-US" dirty="0"/>
          </a:p>
          <a:p>
            <a:r>
              <a:rPr lang="en-US" dirty="0"/>
              <a:t>Addressing seasonal factors by adjusting inventory based on regional trends or seasonal patterns through targeted marketing.</a:t>
            </a:r>
          </a:p>
          <a:p>
            <a:endParaRPr lang="en-US" dirty="0"/>
          </a:p>
        </p:txBody>
      </p:sp>
    </p:spTree>
    <p:extLst>
      <p:ext uri="{BB962C8B-B14F-4D97-AF65-F5344CB8AC3E}">
        <p14:creationId xmlns:p14="http://schemas.microsoft.com/office/powerpoint/2010/main" val="86914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425</Words>
  <Application>Microsoft Office PowerPoint</Application>
  <PresentationFormat>Widescreen</PresentationFormat>
  <Paragraphs>51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Story Telling with Data</vt:lpstr>
      <vt:lpstr>Dashboard Overview</vt:lpstr>
      <vt:lpstr>Sales vs. Returns</vt:lpstr>
      <vt:lpstr>Return Rate by Product</vt:lpstr>
      <vt:lpstr>Best Way to Measure</vt:lpstr>
      <vt:lpstr>Return Rate by State</vt:lpstr>
      <vt:lpstr>Return Rate by Month</vt:lpstr>
      <vt:lpstr>Summary of Key Problem Areas</vt:lpstr>
      <vt:lpstr>Summary of Key Problem Areas</vt:lpstr>
      <vt:lpstr>Summary of Key Problem Areas</vt:lpstr>
      <vt:lpstr>Return Rate Category/Sales Composite</vt:lpstr>
      <vt:lpstr>Recommendations</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K.W. Ford</dc:creator>
  <cp:lastModifiedBy>K.W. Ford</cp:lastModifiedBy>
  <cp:revision>1</cp:revision>
  <dcterms:created xsi:type="dcterms:W3CDTF">2025-06-11T05:15:59Z</dcterms:created>
  <dcterms:modified xsi:type="dcterms:W3CDTF">2025-06-12T05:15:52Z</dcterms:modified>
</cp:coreProperties>
</file>